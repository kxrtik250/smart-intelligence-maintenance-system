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75" r:id="rId2"/>
    <p:sldId id="388" r:id="rId3"/>
    <p:sldId id="390" r:id="rId4"/>
    <p:sldId id="392" r:id="rId5"/>
    <p:sldId id="393" r:id="rId6"/>
    <p:sldId id="394" r:id="rId7"/>
    <p:sldId id="395" r:id="rId8"/>
    <p:sldId id="396" r:id="rId9"/>
    <p:sldId id="397" r:id="rId10"/>
    <p:sldId id="398" r:id="rId11"/>
    <p:sldId id="366" r:id="rId12"/>
    <p:sldId id="30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590" autoAdjust="0"/>
  </p:normalViewPr>
  <p:slideViewPr>
    <p:cSldViewPr showGuides="1">
      <p:cViewPr varScale="1">
        <p:scale>
          <a:sx n="104" d="100"/>
          <a:sy n="104" d="100"/>
        </p:scale>
        <p:origin x="1568"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t>10/30/2025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t>10/30/2025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8</a:t>
            </a:fld>
            <a:endParaRPr lang="en-US"/>
          </a:p>
        </p:txBody>
      </p:sp>
    </p:spTree>
    <p:extLst>
      <p:ext uri="{BB962C8B-B14F-4D97-AF65-F5344CB8AC3E}">
        <p14:creationId xmlns:p14="http://schemas.microsoft.com/office/powerpoint/2010/main" val="2001147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ADA6-8BE8-7E11-6D2D-CA17A4B95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4CFF3-7DF5-CCF3-27F3-84CE711F3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8D854-6ACC-1ACA-9110-BA35520EB6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026523-15C0-688A-75B0-E42F44CD6591}"/>
              </a:ext>
            </a:extLst>
          </p:cNvPr>
          <p:cNvSpPr>
            <a:spLocks noGrp="1"/>
          </p:cNvSpPr>
          <p:nvPr>
            <p:ph type="sldNum" sz="quarter" idx="5"/>
          </p:nvPr>
        </p:nvSpPr>
        <p:spPr/>
        <p:txBody>
          <a:bodyPr/>
          <a:lstStyle/>
          <a:p>
            <a:fld id="{FD238FA3-189B-4AA8-9E46-1FED810FB611}" type="slidenum">
              <a:rPr lang="en-US" smtClean="0"/>
              <a:t>9</a:t>
            </a:fld>
            <a:endParaRPr lang="en-US"/>
          </a:p>
        </p:txBody>
      </p:sp>
    </p:spTree>
    <p:extLst>
      <p:ext uri="{BB962C8B-B14F-4D97-AF65-F5344CB8AC3E}">
        <p14:creationId xmlns:p14="http://schemas.microsoft.com/office/powerpoint/2010/main" val="152630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429F3-80E9-4226-A5CD-7B38FD902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8248B-DCF2-9C85-A766-39316760C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F0FC7-E07C-1439-7896-5E21F36231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DB654D-98C4-F064-74C0-F25078FA86D0}"/>
              </a:ext>
            </a:extLst>
          </p:cNvPr>
          <p:cNvSpPr>
            <a:spLocks noGrp="1"/>
          </p:cNvSpPr>
          <p:nvPr>
            <p:ph type="sldNum" sz="quarter" idx="5"/>
          </p:nvPr>
        </p:nvSpPr>
        <p:spPr/>
        <p:txBody>
          <a:bodyPr/>
          <a:lstStyle/>
          <a:p>
            <a:fld id="{FD238FA3-189B-4AA8-9E46-1FED810FB611}" type="slidenum">
              <a:rPr lang="en-US" smtClean="0"/>
              <a:t>10</a:t>
            </a:fld>
            <a:endParaRPr lang="en-US"/>
          </a:p>
        </p:txBody>
      </p:sp>
    </p:spTree>
    <p:extLst>
      <p:ext uri="{BB962C8B-B14F-4D97-AF65-F5344CB8AC3E}">
        <p14:creationId xmlns:p14="http://schemas.microsoft.com/office/powerpoint/2010/main" val="3590067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30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30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30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30 October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30 October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30 October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30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30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30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30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30 October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30 October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anose="020B0604020202020204" pitchFamily="34" charset="0"/>
                <a:cs typeface="Arial" panose="020B0604020202020204" pitchFamily="34" charset="0"/>
              </a:rPr>
            </a:br>
            <a:br>
              <a:rPr lang="en-IN" sz="2400" dirty="0">
                <a:solidFill>
                  <a:schemeClr val="accent1">
                    <a:lumMod val="50000"/>
                  </a:schemeClr>
                </a:solidFill>
                <a:latin typeface="Arial" panose="020B0604020202020204" pitchFamily="34" charset="0"/>
                <a:cs typeface="Arial" panose="020B0604020202020204" pitchFamily="34" charset="0"/>
              </a:rPr>
            </a:br>
            <a:endParaRPr lang="en-US" sz="2400" dirty="0">
              <a:solidFill>
                <a:schemeClr val="accent1">
                  <a:lumMod val="50000"/>
                </a:schemeClr>
              </a:solidFill>
              <a:latin typeface="Arial" panose="020B0604020202020204" pitchFamily="34" charset="0"/>
              <a:cs typeface="Arial" panose="020B0604020202020204" pitchFamily="34" charset="0"/>
            </a:endParaRPr>
          </a:p>
        </p:txBody>
      </p:sp>
      <p:sp>
        <p:nvSpPr>
          <p:cNvPr id="17" name="Subtitle 2"/>
          <p:cNvSpPr>
            <a:spLocks noGrp="1"/>
          </p:cNvSpPr>
          <p:nvPr>
            <p:ph type="subTitle" idx="1"/>
          </p:nvPr>
        </p:nvSpPr>
        <p:spPr>
          <a:xfrm>
            <a:off x="1293627" y="3512438"/>
            <a:ext cx="6709143" cy="885409"/>
          </a:xfrm>
        </p:spPr>
        <p:txBody>
          <a:bodyPr>
            <a:noAutofit/>
          </a:bodyPr>
          <a:lstStyle/>
          <a:p>
            <a:r>
              <a:rPr lang="en-US" sz="2000" b="1" dirty="0">
                <a:solidFill>
                  <a:schemeClr val="tx1"/>
                </a:solidFill>
                <a:latin typeface="Arial" panose="020B0604020202020204" pitchFamily="34" charset="0"/>
                <a:cs typeface="Arial" panose="020B0604020202020204" pitchFamily="34" charset="0"/>
              </a:rPr>
              <a:t>SMART INDUSTRIAL MAINTENANCE SYSTEM (SIMS) USING GEN AI WITH MULTIMODAL AGENTIC ARCHITECTURE</a:t>
            </a:r>
            <a:endParaRPr lang="en-US" sz="2000" b="1" dirty="0">
              <a:solidFill>
                <a:srgbClr val="7030A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30 October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t>1</a:t>
            </a:fld>
            <a:endParaRPr lang="en-US"/>
          </a:p>
        </p:txBody>
      </p:sp>
      <p:pic>
        <p:nvPicPr>
          <p:cNvPr id="3" name="image2.jpeg"/>
          <p:cNvPicPr/>
          <p:nvPr/>
        </p:nvPicPr>
        <p:blipFill>
          <a:blip r:embed="rId3" cstate="print"/>
          <a:stretch>
            <a:fillRect/>
          </a:stretch>
        </p:blipFill>
        <p:spPr>
          <a:xfrm>
            <a:off x="304800" y="136525"/>
            <a:ext cx="8610600" cy="1696686"/>
          </a:xfrm>
          <a:prstGeom prst="rect">
            <a:avLst/>
          </a:prstGeom>
          <a:ln>
            <a:solidFill>
              <a:srgbClr val="002060"/>
            </a:solidFill>
          </a:ln>
        </p:spPr>
      </p:pic>
      <p:sp>
        <p:nvSpPr>
          <p:cNvPr id="14" name="TextBox 13"/>
          <p:cNvSpPr txBox="1"/>
          <p:nvPr/>
        </p:nvSpPr>
        <p:spPr>
          <a:xfrm>
            <a:off x="342898" y="2024316"/>
            <a:ext cx="8610599" cy="984885"/>
          </a:xfrm>
          <a:prstGeom prst="rect">
            <a:avLst/>
          </a:prstGeom>
          <a:noFill/>
        </p:spPr>
        <p:txBody>
          <a:bodyPr wrap="square">
            <a:spAutoFit/>
          </a:bodyPr>
          <a:lstStyle/>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INTERDISCIPLINARY PROJECT</a:t>
            </a:r>
          </a:p>
        </p:txBody>
      </p:sp>
      <p:sp>
        <p:nvSpPr>
          <p:cNvPr id="29" name="Subtitle 2"/>
          <p:cNvSpPr txBox="1"/>
          <p:nvPr/>
        </p:nvSpPr>
        <p:spPr>
          <a:xfrm>
            <a:off x="457200" y="4901083"/>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IN" sz="2000" b="1" dirty="0">
                <a:solidFill>
                  <a:schemeClr val="tx1"/>
                </a:solidFill>
              </a:rPr>
              <a:t>Karthik Sriram S</a:t>
            </a:r>
            <a:r>
              <a:rPr lang="en-US" sz="2000" b="1" dirty="0">
                <a:solidFill>
                  <a:schemeClr val="tx1"/>
                </a:solidFill>
              </a:rPr>
              <a:t>,  431</a:t>
            </a:r>
            <a:r>
              <a:rPr lang="en-IN" sz="2000" b="1" dirty="0">
                <a:solidFill>
                  <a:schemeClr val="tx1"/>
                </a:solidFill>
              </a:rPr>
              <a:t>10423</a:t>
            </a:r>
            <a:r>
              <a:rPr lang="en-US" sz="2000" b="1" dirty="0">
                <a:solidFill>
                  <a:schemeClr val="tx1"/>
                </a:solidFill>
              </a:rPr>
              <a:t>                                    </a:t>
            </a:r>
            <a:r>
              <a:rPr lang="en-US" sz="2000" b="1" dirty="0" err="1">
                <a:solidFill>
                  <a:schemeClr val="tx1"/>
                </a:solidFill>
              </a:rPr>
              <a:t>Dr.C.Hemalatha</a:t>
            </a:r>
            <a:r>
              <a:rPr lang="en-US" sz="2000" b="1" dirty="0">
                <a:solidFill>
                  <a:schemeClr val="tx1"/>
                </a:solidFill>
              </a:rPr>
              <a:t>, M.E., Ph.D.,</a:t>
            </a:r>
          </a:p>
          <a:p>
            <a:pPr algn="l"/>
            <a:r>
              <a:rPr lang="en-US" sz="2000" b="1" dirty="0">
                <a:solidFill>
                  <a:schemeClr val="tx1"/>
                </a:solidFill>
              </a:rPr>
              <a:t>					</a:t>
            </a:r>
            <a:endParaRPr lang="en-GB" sz="2000" dirty="0">
              <a:solidFill>
                <a:schemeClr val="tx1"/>
              </a:solidFill>
            </a:endParaRPr>
          </a:p>
        </p:txBody>
      </p:sp>
      <p:sp>
        <p:nvSpPr>
          <p:cNvPr id="7" name="TextBox 6">
            <a:extLst>
              <a:ext uri="{FF2B5EF4-FFF2-40B4-BE49-F238E27FC236}">
                <a16:creationId xmlns:a16="http://schemas.microsoft.com/office/drawing/2014/main" id="{8C4309EB-6E4B-C6B8-9237-1335E81F6ACC}"/>
              </a:ext>
            </a:extLst>
          </p:cNvPr>
          <p:cNvSpPr txBox="1"/>
          <p:nvPr/>
        </p:nvSpPr>
        <p:spPr>
          <a:xfrm>
            <a:off x="5486400" y="5645025"/>
            <a:ext cx="3657600" cy="369332"/>
          </a:xfrm>
          <a:prstGeom prst="rect">
            <a:avLst/>
          </a:prstGeom>
          <a:noFill/>
        </p:spPr>
        <p:txBody>
          <a:bodyPr wrap="square">
            <a:spAutoFit/>
          </a:bodyPr>
          <a:lstStyle/>
          <a:p>
            <a:r>
              <a:rPr lang="en-US" sz="1800" b="1" dirty="0">
                <a:solidFill>
                  <a:schemeClr val="tx1"/>
                </a:solidFill>
              </a:rPr>
              <a:t>Assistant Professor, CSE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Introduction</a:t>
            </a:r>
          </a:p>
          <a:p>
            <a:r>
              <a:rPr lang="en-US" dirty="0"/>
              <a:t>Abstract</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COURSE CERTIFICATE</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3</a:t>
            </a:fld>
            <a:endParaRPr lang="en-US" dirty="0"/>
          </a:p>
        </p:txBody>
      </p:sp>
      <p:pic>
        <p:nvPicPr>
          <p:cNvPr id="7" name="Content Placeholder 6">
            <a:extLst>
              <a:ext uri="{FF2B5EF4-FFF2-40B4-BE49-F238E27FC236}">
                <a16:creationId xmlns:a16="http://schemas.microsoft.com/office/drawing/2014/main" id="{7F835351-E6C1-208B-6D23-E5A5A7B74F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7778" y="1600200"/>
            <a:ext cx="6408443" cy="4525963"/>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6008A-70D1-7D9B-298C-2A9A5A5D1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3B5F0-9010-9B79-17BC-B9A72686E44F}"/>
              </a:ext>
            </a:extLst>
          </p:cNvPr>
          <p:cNvSpPr>
            <a:spLocks noGrp="1"/>
          </p:cNvSpPr>
          <p:nvPr>
            <p:ph type="title"/>
          </p:nvPr>
        </p:nvSpPr>
        <p:spPr/>
        <p:txBody>
          <a:bodyPr>
            <a:normAutofit/>
          </a:bodyPr>
          <a:lstStyle/>
          <a:p>
            <a:r>
              <a:rPr lang="en-US" sz="3200" b="1" dirty="0"/>
              <a:t>INTRODUCTION</a:t>
            </a:r>
          </a:p>
        </p:txBody>
      </p:sp>
      <p:sp>
        <p:nvSpPr>
          <p:cNvPr id="3" name="Content Placeholder 2">
            <a:extLst>
              <a:ext uri="{FF2B5EF4-FFF2-40B4-BE49-F238E27FC236}">
                <a16:creationId xmlns:a16="http://schemas.microsoft.com/office/drawing/2014/main" id="{E97F9A69-7B1F-330A-3ACD-EE5925884F4B}"/>
              </a:ext>
            </a:extLst>
          </p:cNvPr>
          <p:cNvSpPr>
            <a:spLocks noGrp="1"/>
          </p:cNvSpPr>
          <p:nvPr>
            <p:ph idx="1"/>
          </p:nvPr>
        </p:nvSpPr>
        <p:spPr>
          <a:xfrm>
            <a:off x="457200" y="1600993"/>
            <a:ext cx="8229600" cy="4525963"/>
          </a:xfrm>
        </p:spPr>
        <p:txBody>
          <a:bodyPr>
            <a:normAutofit/>
          </a:bodyPr>
          <a:lstStyle/>
          <a:p>
            <a:pPr marL="0" lvl="0" indent="0" algn="just" eaLnBrk="0" fontAlgn="base" hangingPunct="0">
              <a:spcBef>
                <a:spcPct val="0"/>
              </a:spcBef>
              <a:spcAft>
                <a:spcPct val="0"/>
              </a:spcAft>
              <a:buNone/>
            </a:pPr>
            <a:r>
              <a:rPr lang="en-US" sz="2400" dirty="0"/>
              <a:t>In the era of Industry 4.0, the integration of </a:t>
            </a:r>
            <a:r>
              <a:rPr lang="en-US" sz="2400" b="1" dirty="0"/>
              <a:t>Generative AI</a:t>
            </a:r>
            <a:r>
              <a:rPr lang="en-US" sz="2400" dirty="0"/>
              <a:t> with </a:t>
            </a:r>
            <a:r>
              <a:rPr lang="en-US" sz="2400" b="1" dirty="0"/>
              <a:t>Multimodal Agentic Architectures</a:t>
            </a:r>
            <a:r>
              <a:rPr lang="en-US" sz="2400" dirty="0"/>
              <a:t> is revolutionizing industrial maintenance. The </a:t>
            </a:r>
            <a:r>
              <a:rPr lang="en-US" sz="2400" b="1" dirty="0"/>
              <a:t>Smart Industrial Maintenance System (SIMS)</a:t>
            </a:r>
            <a:r>
              <a:rPr lang="en-US" sz="2400" dirty="0"/>
              <a:t> leverages these advanced technologies to enhance operational efficiency, reduce downtime, and optimize maintenance strategies.</a:t>
            </a:r>
            <a:endParaRPr lang="en-US" altLang="en-US" sz="2400" dirty="0">
              <a:latin typeface="Arial" panose="020B0604020202020204" pitchFamily="34" charset="0"/>
            </a:endParaRPr>
          </a:p>
          <a:p>
            <a:pPr marL="0" indent="0" algn="just">
              <a:buNone/>
            </a:pPr>
            <a:endParaRPr lang="en-US" sz="2800" dirty="0"/>
          </a:p>
          <a:p>
            <a:pPr algn="just"/>
            <a:endParaRPr lang="en-US" sz="2800" dirty="0"/>
          </a:p>
          <a:p>
            <a:pPr algn="just"/>
            <a:endParaRPr lang="en-US" sz="2800" dirty="0"/>
          </a:p>
        </p:txBody>
      </p:sp>
      <p:sp>
        <p:nvSpPr>
          <p:cNvPr id="4" name="Date Placeholder 3">
            <a:extLst>
              <a:ext uri="{FF2B5EF4-FFF2-40B4-BE49-F238E27FC236}">
                <a16:creationId xmlns:a16="http://schemas.microsoft.com/office/drawing/2014/main" id="{0F9796C1-E8AC-D9FB-635F-FFF22031A085}"/>
              </a:ext>
            </a:extLst>
          </p:cNvPr>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a:extLst>
              <a:ext uri="{FF2B5EF4-FFF2-40B4-BE49-F238E27FC236}">
                <a16:creationId xmlns:a16="http://schemas.microsoft.com/office/drawing/2014/main" id="{F31540E7-1120-A11C-7426-8056BAB2A9B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15334DA-3041-9748-CE6A-4BA90C897FE1}"/>
              </a:ext>
            </a:extLst>
          </p:cNvPr>
          <p:cNvSpPr>
            <a:spLocks noGrp="1"/>
          </p:cNvSpPr>
          <p:nvPr>
            <p:ph type="sldNum" sz="quarter" idx="12"/>
          </p:nvPr>
        </p:nvSpPr>
        <p:spPr/>
        <p:txBody>
          <a:bodyPr/>
          <a:lstStyle/>
          <a:p>
            <a:fld id="{7B28076C-CE04-4A00-BFAA-A90EA8355859}" type="slidenum">
              <a:rPr lang="en-US" smtClean="0"/>
              <a:t>4</a:t>
            </a:fld>
            <a:endParaRPr lang="en-US"/>
          </a:p>
        </p:txBody>
      </p:sp>
    </p:spTree>
    <p:extLst>
      <p:ext uri="{BB962C8B-B14F-4D97-AF65-F5344CB8AC3E}">
        <p14:creationId xmlns:p14="http://schemas.microsoft.com/office/powerpoint/2010/main" val="700961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B38C9-B030-3689-382E-5911ED6B5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B192-BAE6-7F4B-8FB3-F3E5A83FE923}"/>
              </a:ext>
            </a:extLst>
          </p:cNvPr>
          <p:cNvSpPr>
            <a:spLocks noGrp="1"/>
          </p:cNvSpPr>
          <p:nvPr>
            <p:ph type="title"/>
          </p:nvPr>
        </p:nvSpPr>
        <p:spPr/>
        <p:txBody>
          <a:bodyPr>
            <a:normAutofit/>
          </a:bodyPr>
          <a:lstStyle/>
          <a:p>
            <a:r>
              <a:rPr lang="en-US" sz="3200" b="1" dirty="0"/>
              <a:t>ABSTRACT</a:t>
            </a:r>
          </a:p>
        </p:txBody>
      </p:sp>
      <p:sp>
        <p:nvSpPr>
          <p:cNvPr id="3" name="Content Placeholder 2">
            <a:extLst>
              <a:ext uri="{FF2B5EF4-FFF2-40B4-BE49-F238E27FC236}">
                <a16:creationId xmlns:a16="http://schemas.microsoft.com/office/drawing/2014/main" id="{5B369B1E-19C0-61F5-EC17-0A783E6650DF}"/>
              </a:ext>
            </a:extLst>
          </p:cNvPr>
          <p:cNvSpPr>
            <a:spLocks noGrp="1"/>
          </p:cNvSpPr>
          <p:nvPr>
            <p:ph idx="1"/>
          </p:nvPr>
        </p:nvSpPr>
        <p:spPr>
          <a:xfrm>
            <a:off x="457200" y="1600993"/>
            <a:ext cx="8229600" cy="4525963"/>
          </a:xfrm>
        </p:spPr>
        <p:txBody>
          <a:bodyPr>
            <a:normAutofit/>
          </a:bodyPr>
          <a:lstStyle/>
          <a:p>
            <a:pPr marL="0" lvl="0" indent="0" algn="just" eaLnBrk="0" fontAlgn="base" hangingPunct="0">
              <a:spcBef>
                <a:spcPct val="0"/>
              </a:spcBef>
              <a:spcAft>
                <a:spcPct val="0"/>
              </a:spcAft>
              <a:buFontTx/>
              <a:buChar char="•"/>
            </a:pPr>
            <a:r>
              <a:rPr lang="en-US" sz="2400" dirty="0"/>
              <a:t>The Smart Industrial Maintenance System (SIMS) represents a transformative approach to industrial asset management by integrating Generative AI with a Multimodal Agentic Architecture. This innovative framework enables autonomous agents to process and interpret diverse data streams—such as sensor readings, acoustic signals, and visual inputs—facilitating real-time diagnostics and predictive maintenance. The system's agentic design allows for decentralized decision-making, enhancing scalability and adaptability across various industrial environments. </a:t>
            </a:r>
            <a:endParaRPr lang="en-US" sz="2800" dirty="0"/>
          </a:p>
        </p:txBody>
      </p:sp>
      <p:sp>
        <p:nvSpPr>
          <p:cNvPr id="4" name="Date Placeholder 3">
            <a:extLst>
              <a:ext uri="{FF2B5EF4-FFF2-40B4-BE49-F238E27FC236}">
                <a16:creationId xmlns:a16="http://schemas.microsoft.com/office/drawing/2014/main" id="{D1A05E85-9308-64BD-9889-BBD59B6DDAAE}"/>
              </a:ext>
            </a:extLst>
          </p:cNvPr>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a:extLst>
              <a:ext uri="{FF2B5EF4-FFF2-40B4-BE49-F238E27FC236}">
                <a16:creationId xmlns:a16="http://schemas.microsoft.com/office/drawing/2014/main" id="{B2C8EFEB-08DA-EBE3-F78D-91BFA3DFBBC2}"/>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6FEE4D0D-0BD9-2B81-8304-838C4352D9D5}"/>
              </a:ext>
            </a:extLst>
          </p:cNvPr>
          <p:cNvSpPr>
            <a:spLocks noGrp="1"/>
          </p:cNvSpPr>
          <p:nvPr>
            <p:ph type="sldNum" sz="quarter" idx="12"/>
          </p:nvPr>
        </p:nvSpPr>
        <p:spPr/>
        <p:txBody>
          <a:bodyPr/>
          <a:lstStyle/>
          <a:p>
            <a:fld id="{7B28076C-CE04-4A00-BFAA-A90EA8355859}" type="slidenum">
              <a:rPr lang="en-US" smtClean="0"/>
              <a:t>5</a:t>
            </a:fld>
            <a:endParaRPr lang="en-US"/>
          </a:p>
        </p:txBody>
      </p:sp>
    </p:spTree>
    <p:extLst>
      <p:ext uri="{BB962C8B-B14F-4D97-AF65-F5344CB8AC3E}">
        <p14:creationId xmlns:p14="http://schemas.microsoft.com/office/powerpoint/2010/main" val="232020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C7795-344B-26E2-A590-3A8D62174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3E6BC-F161-B32A-23A8-C6861EB9DA69}"/>
              </a:ext>
            </a:extLst>
          </p:cNvPr>
          <p:cNvSpPr>
            <a:spLocks noGrp="1"/>
          </p:cNvSpPr>
          <p:nvPr>
            <p:ph type="title"/>
          </p:nvPr>
        </p:nvSpPr>
        <p:spPr/>
        <p:txBody>
          <a:bodyPr>
            <a:normAutofit/>
          </a:bodyPr>
          <a:lstStyle/>
          <a:p>
            <a:r>
              <a:rPr lang="en-US" sz="3200" b="1" dirty="0"/>
              <a:t>OBJECTIVE</a:t>
            </a:r>
          </a:p>
        </p:txBody>
      </p:sp>
      <p:sp>
        <p:nvSpPr>
          <p:cNvPr id="4" name="Date Placeholder 3">
            <a:extLst>
              <a:ext uri="{FF2B5EF4-FFF2-40B4-BE49-F238E27FC236}">
                <a16:creationId xmlns:a16="http://schemas.microsoft.com/office/drawing/2014/main" id="{18A4DCC6-2C97-4CEA-F498-EB517D3936E4}"/>
              </a:ext>
            </a:extLst>
          </p:cNvPr>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a:extLst>
              <a:ext uri="{FF2B5EF4-FFF2-40B4-BE49-F238E27FC236}">
                <a16:creationId xmlns:a16="http://schemas.microsoft.com/office/drawing/2014/main" id="{5C0F58C3-127A-8BBC-9995-0703E68EBBF4}"/>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EC00C93-88D0-E4C7-C3EC-A0EBF1C96829}"/>
              </a:ext>
            </a:extLst>
          </p:cNvPr>
          <p:cNvSpPr>
            <a:spLocks noGrp="1"/>
          </p:cNvSpPr>
          <p:nvPr>
            <p:ph type="sldNum" sz="quarter" idx="12"/>
          </p:nvPr>
        </p:nvSpPr>
        <p:spPr/>
        <p:txBody>
          <a:bodyPr/>
          <a:lstStyle/>
          <a:p>
            <a:fld id="{7B28076C-CE04-4A00-BFAA-A90EA8355859}" type="slidenum">
              <a:rPr lang="en-US" smtClean="0"/>
              <a:t>6</a:t>
            </a:fld>
            <a:endParaRPr lang="en-US"/>
          </a:p>
        </p:txBody>
      </p:sp>
      <p:sp>
        <p:nvSpPr>
          <p:cNvPr id="10" name="Rectangle 2">
            <a:extLst>
              <a:ext uri="{FF2B5EF4-FFF2-40B4-BE49-F238E27FC236}">
                <a16:creationId xmlns:a16="http://schemas.microsoft.com/office/drawing/2014/main" id="{B4D7987E-4E69-DA8F-BFDD-0A573959DCE9}"/>
              </a:ext>
            </a:extLst>
          </p:cNvPr>
          <p:cNvSpPr>
            <a:spLocks noGrp="1" noChangeArrowheads="1"/>
          </p:cNvSpPr>
          <p:nvPr>
            <p:ph idx="1"/>
          </p:nvPr>
        </p:nvSpPr>
        <p:spPr bwMode="auto">
          <a:xfrm>
            <a:off x="464574" y="1316184"/>
            <a:ext cx="8229600" cy="5115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r>
              <a:rPr lang="en-US" sz="2400" b="1" dirty="0"/>
              <a:t>Predictive Maintenance</a:t>
            </a:r>
            <a:r>
              <a:rPr lang="en-US" sz="2400" dirty="0"/>
              <a:t>: Leverage Generative AI to forecast equipment failures, enabling timely interventions and reducing unplanned downtime.</a:t>
            </a:r>
          </a:p>
          <a:p>
            <a:pPr marL="0" indent="0" algn="just">
              <a:buNone/>
            </a:pPr>
            <a:r>
              <a:rPr lang="en-US" sz="2400" b="1" dirty="0"/>
              <a:t>Multimodal Data Integration</a:t>
            </a:r>
            <a:r>
              <a:rPr lang="en-US" sz="2400" dirty="0"/>
              <a:t>: Integrate diverse data sources—including IoT sensors, acoustic signals, and visual inputs—to provide a comprehensive understanding of equipment health.</a:t>
            </a:r>
          </a:p>
          <a:p>
            <a:pPr marL="0" indent="0">
              <a:buNone/>
            </a:pPr>
            <a:r>
              <a:rPr lang="en-US" sz="2400" b="1" dirty="0"/>
              <a:t>Autonomous Decision-Making</a:t>
            </a:r>
            <a:r>
              <a:rPr lang="en-US" sz="2400" dirty="0"/>
              <a:t>: Develop intelligent agents capable of making real-time maintenance decisions, optimizing workflows, and enhancing operational efficiency.</a:t>
            </a:r>
          </a:p>
          <a:p>
            <a:pPr marL="0" indent="0" algn="just">
              <a:buNone/>
            </a:pPr>
            <a:r>
              <a:rPr lang="en-US" sz="2400" b="1" dirty="0"/>
              <a:t>Scalability and Flexibility</a:t>
            </a:r>
            <a:r>
              <a:rPr lang="en-US" sz="2400" dirty="0"/>
              <a:t>: Design the system architecture to be scalable and adaptable, accommodating the evolving needs of various industrial environments.</a:t>
            </a:r>
          </a:p>
          <a:p>
            <a:pPr marL="0" lvl="0" indent="0" algn="just" eaLnBrk="0" fontAlgn="base" hangingPunct="0">
              <a:spcBef>
                <a:spcPct val="0"/>
              </a:spcBef>
              <a:spcAft>
                <a:spcPct val="0"/>
              </a:spcAft>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0050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A76C8-194C-BB89-1AF2-AAF45C4C5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26F8B-A93E-91FA-E453-251719FA84ED}"/>
              </a:ext>
            </a:extLst>
          </p:cNvPr>
          <p:cNvSpPr>
            <a:spLocks noGrp="1"/>
          </p:cNvSpPr>
          <p:nvPr>
            <p:ph type="title"/>
          </p:nvPr>
        </p:nvSpPr>
        <p:spPr/>
        <p:txBody>
          <a:bodyPr>
            <a:normAutofit/>
          </a:bodyPr>
          <a:lstStyle/>
          <a:p>
            <a:r>
              <a:rPr lang="en-US" sz="3200" b="1" dirty="0"/>
              <a:t>SYSTEM ARCHITECTURE/IDEATION MAP</a:t>
            </a:r>
          </a:p>
        </p:txBody>
      </p:sp>
      <p:sp>
        <p:nvSpPr>
          <p:cNvPr id="4" name="Date Placeholder 3">
            <a:extLst>
              <a:ext uri="{FF2B5EF4-FFF2-40B4-BE49-F238E27FC236}">
                <a16:creationId xmlns:a16="http://schemas.microsoft.com/office/drawing/2014/main" id="{508E06EE-C692-9835-3097-9A10AB670436}"/>
              </a:ext>
            </a:extLst>
          </p:cNvPr>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a:extLst>
              <a:ext uri="{FF2B5EF4-FFF2-40B4-BE49-F238E27FC236}">
                <a16:creationId xmlns:a16="http://schemas.microsoft.com/office/drawing/2014/main" id="{DE168401-0B58-A06E-2505-28FE4EC7B2B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34C1F4C8-BB5F-5294-B677-D8498F23C202}"/>
              </a:ext>
            </a:extLst>
          </p:cNvPr>
          <p:cNvSpPr>
            <a:spLocks noGrp="1"/>
          </p:cNvSpPr>
          <p:nvPr>
            <p:ph type="sldNum" sz="quarter" idx="12"/>
          </p:nvPr>
        </p:nvSpPr>
        <p:spPr/>
        <p:txBody>
          <a:bodyPr/>
          <a:lstStyle/>
          <a:p>
            <a:fld id="{7B28076C-CE04-4A00-BFAA-A90EA8355859}" type="slidenum">
              <a:rPr lang="en-US" smtClean="0"/>
              <a:t>7</a:t>
            </a:fld>
            <a:endParaRPr lang="en-US"/>
          </a:p>
        </p:txBody>
      </p:sp>
      <p:sp>
        <p:nvSpPr>
          <p:cNvPr id="12" name="TextBox 11">
            <a:extLst>
              <a:ext uri="{FF2B5EF4-FFF2-40B4-BE49-F238E27FC236}">
                <a16:creationId xmlns:a16="http://schemas.microsoft.com/office/drawing/2014/main" id="{7662DF35-2C9D-E479-A578-942E2FDE1DC9}"/>
              </a:ext>
            </a:extLst>
          </p:cNvPr>
          <p:cNvSpPr txBox="1"/>
          <p:nvPr/>
        </p:nvSpPr>
        <p:spPr>
          <a:xfrm>
            <a:off x="329420" y="1371600"/>
            <a:ext cx="8515640" cy="4154984"/>
          </a:xfrm>
          <a:prstGeom prst="rect">
            <a:avLst/>
          </a:prstGeom>
          <a:noFill/>
        </p:spPr>
        <p:txBody>
          <a:bodyPr wrap="square">
            <a:spAutoFit/>
          </a:bodyPr>
          <a:lstStyle/>
          <a:p>
            <a:pPr algn="just"/>
            <a:r>
              <a:rPr lang="en-US" sz="2400" b="1" dirty="0"/>
              <a:t>Generative AI Models</a:t>
            </a:r>
            <a:r>
              <a:rPr lang="en-US" sz="2400" dirty="0"/>
              <a:t>: Analyze data to predict failures.</a:t>
            </a:r>
          </a:p>
          <a:p>
            <a:pPr algn="just"/>
            <a:r>
              <a:rPr lang="en-US" sz="2400" b="1" dirty="0"/>
              <a:t>Machine Learning Algorithms</a:t>
            </a:r>
            <a:r>
              <a:rPr lang="en-US" sz="2400" dirty="0"/>
              <a:t>: Classify anomalies and assess equipment health.</a:t>
            </a:r>
          </a:p>
          <a:p>
            <a:pPr algn="just"/>
            <a:r>
              <a:rPr lang="en-US" sz="2400" b="1" dirty="0"/>
              <a:t>Autonomous Agents</a:t>
            </a:r>
            <a:r>
              <a:rPr lang="en-US" sz="2400" dirty="0"/>
              <a:t>: Make real-time maintenance decisions.</a:t>
            </a:r>
          </a:p>
          <a:p>
            <a:pPr algn="just"/>
            <a:r>
              <a:rPr lang="en-US" sz="2400" b="1" dirty="0"/>
              <a:t>Collaborative Agents</a:t>
            </a:r>
            <a:r>
              <a:rPr lang="en-US" sz="2400" dirty="0"/>
              <a:t>: Coordinate tasks across systems.</a:t>
            </a:r>
          </a:p>
          <a:p>
            <a:pPr algn="just"/>
            <a:r>
              <a:rPr lang="en-US" sz="2400" b="1" dirty="0"/>
              <a:t>Dashboards</a:t>
            </a:r>
            <a:r>
              <a:rPr lang="en-US" sz="2400" dirty="0"/>
              <a:t>: Provide real-time monitoring and alerts.</a:t>
            </a:r>
          </a:p>
          <a:p>
            <a:pPr algn="just"/>
            <a:r>
              <a:rPr lang="en-US" sz="2400" b="1" dirty="0"/>
              <a:t>Mobile Interfaces</a:t>
            </a:r>
            <a:r>
              <a:rPr lang="en-US" sz="2400" dirty="0"/>
              <a:t>: Allow field technicians to receive instructions.</a:t>
            </a:r>
          </a:p>
          <a:p>
            <a:pPr algn="just"/>
            <a:r>
              <a:rPr lang="en-US" sz="2400" b="1" dirty="0"/>
              <a:t>Cloud &amp; Infrastructure Layer</a:t>
            </a:r>
            <a:endParaRPr lang="en-US" sz="2400" dirty="0"/>
          </a:p>
          <a:p>
            <a:pPr algn="just"/>
            <a:r>
              <a:rPr lang="en-US" sz="2400" b="1" dirty="0"/>
              <a:t>Cloud Storage</a:t>
            </a:r>
            <a:r>
              <a:rPr lang="en-US" sz="2400" dirty="0"/>
              <a:t>: Store large volumes of data securely.</a:t>
            </a:r>
          </a:p>
          <a:p>
            <a:pPr algn="just"/>
            <a:r>
              <a:rPr lang="en-US" sz="2400" b="1" dirty="0"/>
              <a:t>Computational Resources</a:t>
            </a:r>
            <a:r>
              <a:rPr lang="en-US" sz="2400" dirty="0"/>
              <a:t>: Support AI model training and inference.</a:t>
            </a:r>
          </a:p>
        </p:txBody>
      </p:sp>
    </p:spTree>
    <p:extLst>
      <p:ext uri="{BB962C8B-B14F-4D97-AF65-F5344CB8AC3E}">
        <p14:creationId xmlns:p14="http://schemas.microsoft.com/office/powerpoint/2010/main" val="3481341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B21B-7E31-76D8-72BE-45495147B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FFFF-B75D-6DBA-AEF0-A8D810DDB14E}"/>
              </a:ext>
            </a:extLst>
          </p:cNvPr>
          <p:cNvSpPr>
            <a:spLocks noGrp="1"/>
          </p:cNvSpPr>
          <p:nvPr>
            <p:ph type="title"/>
          </p:nvPr>
        </p:nvSpPr>
        <p:spPr/>
        <p:txBody>
          <a:bodyPr>
            <a:normAutofit/>
          </a:bodyPr>
          <a:lstStyle/>
          <a:p>
            <a:r>
              <a:rPr lang="en-US" sz="3200" b="1" dirty="0"/>
              <a:t>MODULE IMPLEMENTATION</a:t>
            </a:r>
          </a:p>
        </p:txBody>
      </p:sp>
      <p:sp>
        <p:nvSpPr>
          <p:cNvPr id="4" name="Date Placeholder 3">
            <a:extLst>
              <a:ext uri="{FF2B5EF4-FFF2-40B4-BE49-F238E27FC236}">
                <a16:creationId xmlns:a16="http://schemas.microsoft.com/office/drawing/2014/main" id="{6E68E895-90C6-485B-5EC3-9F94ACF8F821}"/>
              </a:ext>
            </a:extLst>
          </p:cNvPr>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a:extLst>
              <a:ext uri="{FF2B5EF4-FFF2-40B4-BE49-F238E27FC236}">
                <a16:creationId xmlns:a16="http://schemas.microsoft.com/office/drawing/2014/main" id="{4364CD83-1C07-9946-F74E-CDF8AFFAC76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1AD46F9-E813-0DDA-B9AC-9B7F3E50C7CB}"/>
              </a:ext>
            </a:extLst>
          </p:cNvPr>
          <p:cNvSpPr>
            <a:spLocks noGrp="1"/>
          </p:cNvSpPr>
          <p:nvPr>
            <p:ph type="sldNum" sz="quarter" idx="12"/>
          </p:nvPr>
        </p:nvSpPr>
        <p:spPr/>
        <p:txBody>
          <a:bodyPr/>
          <a:lstStyle/>
          <a:p>
            <a:fld id="{7B28076C-CE04-4A00-BFAA-A90EA8355859}" type="slidenum">
              <a:rPr lang="en-US" smtClean="0"/>
              <a:t>8</a:t>
            </a:fld>
            <a:endParaRPr lang="en-US"/>
          </a:p>
        </p:txBody>
      </p:sp>
      <p:sp>
        <p:nvSpPr>
          <p:cNvPr id="10" name="Rectangle 4">
            <a:extLst>
              <a:ext uri="{FF2B5EF4-FFF2-40B4-BE49-F238E27FC236}">
                <a16:creationId xmlns:a16="http://schemas.microsoft.com/office/drawing/2014/main" id="{2EE0168A-97AC-6092-11F6-1E6E96A9E9BD}"/>
              </a:ext>
            </a:extLst>
          </p:cNvPr>
          <p:cNvSpPr>
            <a:spLocks noGrp="1" noChangeArrowheads="1"/>
          </p:cNvSpPr>
          <p:nvPr>
            <p:ph idx="1"/>
          </p:nvPr>
        </p:nvSpPr>
        <p:spPr bwMode="auto">
          <a:xfrm>
            <a:off x="457200" y="1200915"/>
            <a:ext cx="83820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000" b="1" dirty="0"/>
              <a:t>1. Data Acquisition</a:t>
            </a:r>
            <a:endParaRPr lang="en-IN" sz="2000" dirty="0"/>
          </a:p>
          <a:p>
            <a:r>
              <a:rPr lang="en-IN" sz="2000" dirty="0"/>
              <a:t>Deploy IoT sensors, cameras, and acoustic devices to collect real-time operational data.</a:t>
            </a:r>
          </a:p>
          <a:p>
            <a:pPr marL="0" indent="0">
              <a:buNone/>
            </a:pPr>
            <a:r>
              <a:rPr lang="en-IN" sz="2000" b="1" dirty="0"/>
              <a:t>2. Data Processing &amp; Fusion</a:t>
            </a:r>
            <a:endParaRPr lang="en-IN" sz="2000" dirty="0"/>
          </a:p>
          <a:p>
            <a:r>
              <a:rPr lang="en-IN" sz="2000" dirty="0"/>
              <a:t>Utilize edge computing for initial data processing.</a:t>
            </a:r>
          </a:p>
          <a:p>
            <a:r>
              <a:rPr lang="en-IN" sz="2000" dirty="0"/>
              <a:t>Integrate multimodal data streams (sensor, visual, acoustic) for comprehensive analysis.</a:t>
            </a:r>
          </a:p>
          <a:p>
            <a:pPr marL="0" indent="0">
              <a:buNone/>
            </a:pPr>
            <a:r>
              <a:rPr lang="en-IN" sz="2000" b="1" dirty="0"/>
              <a:t>3. AI &amp; Analytics</a:t>
            </a:r>
            <a:endParaRPr lang="en-IN" sz="2000" dirty="0"/>
          </a:p>
          <a:p>
            <a:r>
              <a:rPr lang="en-IN" sz="2000" dirty="0"/>
              <a:t>Implement Generative AI models for predictive maintenance.</a:t>
            </a:r>
          </a:p>
          <a:p>
            <a:r>
              <a:rPr lang="en-IN" sz="2000" dirty="0"/>
              <a:t>Apply machine learning algorithms for anomaly detection and health assessment.</a:t>
            </a:r>
          </a:p>
          <a:p>
            <a:pPr marL="0" indent="0">
              <a:buNone/>
            </a:pPr>
            <a:r>
              <a:rPr lang="en-IN" sz="2000" b="1" dirty="0"/>
              <a:t>4. Agentic Decision-Making</a:t>
            </a:r>
            <a:endParaRPr lang="en-IN" sz="2000" dirty="0"/>
          </a:p>
          <a:p>
            <a:r>
              <a:rPr lang="en-IN" sz="2000" dirty="0"/>
              <a:t>Develop autonomous agents for real-time diagnostics and maintenance scheduling.</a:t>
            </a:r>
          </a:p>
          <a:p>
            <a:r>
              <a:rPr lang="en-IN" sz="2000" dirty="0"/>
              <a:t>Enable collaborative agents for task coordination and optimization.</a:t>
            </a:r>
          </a:p>
        </p:txBody>
      </p:sp>
    </p:spTree>
    <p:extLst>
      <p:ext uri="{BB962C8B-B14F-4D97-AF65-F5344CB8AC3E}">
        <p14:creationId xmlns:p14="http://schemas.microsoft.com/office/powerpoint/2010/main" val="4141202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03615-B5FA-A0A1-ACBF-C082FA193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B5853-FA08-BF26-F943-8E1176609F4C}"/>
              </a:ext>
            </a:extLst>
          </p:cNvPr>
          <p:cNvSpPr>
            <a:spLocks noGrp="1"/>
          </p:cNvSpPr>
          <p:nvPr>
            <p:ph type="title"/>
          </p:nvPr>
        </p:nvSpPr>
        <p:spPr/>
        <p:txBody>
          <a:bodyPr>
            <a:normAutofit/>
          </a:bodyPr>
          <a:lstStyle/>
          <a:p>
            <a:r>
              <a:rPr lang="en-US" sz="3200" b="1" dirty="0"/>
              <a:t>RESULT AND DISCUSSION</a:t>
            </a:r>
          </a:p>
        </p:txBody>
      </p:sp>
      <p:sp>
        <p:nvSpPr>
          <p:cNvPr id="4" name="Date Placeholder 3">
            <a:extLst>
              <a:ext uri="{FF2B5EF4-FFF2-40B4-BE49-F238E27FC236}">
                <a16:creationId xmlns:a16="http://schemas.microsoft.com/office/drawing/2014/main" id="{32803CDA-E560-24D4-BA32-6FDE1CF32C0D}"/>
              </a:ext>
            </a:extLst>
          </p:cNvPr>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a:extLst>
              <a:ext uri="{FF2B5EF4-FFF2-40B4-BE49-F238E27FC236}">
                <a16:creationId xmlns:a16="http://schemas.microsoft.com/office/drawing/2014/main" id="{70210FC7-2FD6-7463-925E-7D12DCDD8DA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01B6B26B-47FD-CEB9-E1AC-74DDBA49A4E5}"/>
              </a:ext>
            </a:extLst>
          </p:cNvPr>
          <p:cNvSpPr>
            <a:spLocks noGrp="1"/>
          </p:cNvSpPr>
          <p:nvPr>
            <p:ph type="sldNum" sz="quarter" idx="12"/>
          </p:nvPr>
        </p:nvSpPr>
        <p:spPr/>
        <p:txBody>
          <a:bodyPr/>
          <a:lstStyle/>
          <a:p>
            <a:fld id="{7B28076C-CE04-4A00-BFAA-A90EA8355859}" type="slidenum">
              <a:rPr lang="en-US" smtClean="0"/>
              <a:t>9</a:t>
            </a:fld>
            <a:endParaRPr lang="en-US"/>
          </a:p>
        </p:txBody>
      </p:sp>
      <p:sp>
        <p:nvSpPr>
          <p:cNvPr id="3" name="Content Placeholder 2">
            <a:extLst>
              <a:ext uri="{FF2B5EF4-FFF2-40B4-BE49-F238E27FC236}">
                <a16:creationId xmlns:a16="http://schemas.microsoft.com/office/drawing/2014/main" id="{0B366378-0C84-5F85-3847-9658EDBDD743}"/>
              </a:ext>
            </a:extLst>
          </p:cNvPr>
          <p:cNvSpPr>
            <a:spLocks noGrp="1"/>
          </p:cNvSpPr>
          <p:nvPr>
            <p:ph idx="1"/>
          </p:nvPr>
        </p:nvSpPr>
        <p:spPr>
          <a:xfrm>
            <a:off x="303856" y="1166018"/>
            <a:ext cx="8229600" cy="4525963"/>
          </a:xfrm>
        </p:spPr>
        <p:txBody>
          <a:bodyPr>
            <a:noAutofit/>
          </a:bodyPr>
          <a:lstStyle/>
          <a:p>
            <a:pPr algn="just">
              <a:lnSpc>
                <a:spcPct val="120000"/>
              </a:lnSpc>
            </a:pPr>
            <a:r>
              <a:rPr lang="en-US" sz="2000" b="1" dirty="0"/>
              <a:t>Enhanced Predictive Maintenance - </a:t>
            </a:r>
            <a:r>
              <a:rPr lang="en-US" sz="2000" dirty="0"/>
              <a:t>SIMS leverages multimodal data—sensor readings, acoustic signals, and visual inputs—processed by Generative AI to predict equipment failures with high accuracy. This approach enables proactive maintenance, reducing downtime and extending asset life. </a:t>
            </a:r>
          </a:p>
          <a:p>
            <a:pPr algn="just">
              <a:lnSpc>
                <a:spcPct val="120000"/>
              </a:lnSpc>
            </a:pPr>
            <a:r>
              <a:rPr lang="en-US" sz="2000" b="1" dirty="0"/>
              <a:t>Seamless Human-Machine Collaboration - </a:t>
            </a:r>
            <a:r>
              <a:rPr lang="en-US" sz="2000" dirty="0"/>
              <a:t>The integration of multimodal inputs allows SIMS to interpret complex scenarios, facilitating intuitive interactions between human operators and AI agents. This collaboration enhances operational efficiency and safety. </a:t>
            </a:r>
          </a:p>
          <a:p>
            <a:pPr algn="just">
              <a:lnSpc>
                <a:spcPct val="120000"/>
              </a:lnSpc>
            </a:pPr>
            <a:r>
              <a:rPr lang="en-US" sz="2000" b="1" dirty="0"/>
              <a:t>Scalability and Adaptability - </a:t>
            </a:r>
            <a:r>
              <a:rPr lang="en-US" sz="2000" dirty="0"/>
              <a:t>Designed to function across diverse industrial environments, SIMS demonstrates scalability and adaptability. Its architecture supports integration with existing systems, ensuring broad applicability and future-proofing.</a:t>
            </a:r>
          </a:p>
        </p:txBody>
      </p:sp>
    </p:spTree>
    <p:extLst>
      <p:ext uri="{BB962C8B-B14F-4D97-AF65-F5344CB8AC3E}">
        <p14:creationId xmlns:p14="http://schemas.microsoft.com/office/powerpoint/2010/main" val="39915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F6EB9-C786-625F-6009-3AA318169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808BB-BD1C-82D7-6153-4473F5DC08C8}"/>
              </a:ext>
            </a:extLst>
          </p:cNvPr>
          <p:cNvSpPr>
            <a:spLocks noGrp="1"/>
          </p:cNvSpPr>
          <p:nvPr>
            <p:ph type="title"/>
          </p:nvPr>
        </p:nvSpPr>
        <p:spPr/>
        <p:txBody>
          <a:bodyPr>
            <a:normAutofit/>
          </a:bodyPr>
          <a:lstStyle/>
          <a:p>
            <a:r>
              <a:rPr lang="en-US" sz="3200" b="1" dirty="0"/>
              <a:t>CONCLUSION</a:t>
            </a:r>
          </a:p>
        </p:txBody>
      </p:sp>
      <p:sp>
        <p:nvSpPr>
          <p:cNvPr id="4" name="Date Placeholder 3">
            <a:extLst>
              <a:ext uri="{FF2B5EF4-FFF2-40B4-BE49-F238E27FC236}">
                <a16:creationId xmlns:a16="http://schemas.microsoft.com/office/drawing/2014/main" id="{531AA254-DC2C-29A5-4D8E-96409DE6C588}"/>
              </a:ext>
            </a:extLst>
          </p:cNvPr>
          <p:cNvSpPr>
            <a:spLocks noGrp="1"/>
          </p:cNvSpPr>
          <p:nvPr>
            <p:ph type="dt" sz="half" idx="10"/>
          </p:nvPr>
        </p:nvSpPr>
        <p:spPr/>
        <p:txBody>
          <a:bodyPr/>
          <a:lstStyle/>
          <a:p>
            <a:fld id="{EB7275DB-6D13-480B-AC77-F5019BDC5287}" type="datetime3">
              <a:rPr lang="en-US" smtClean="0"/>
              <a:t>30 October 2025</a:t>
            </a:fld>
            <a:endParaRPr lang="en-US"/>
          </a:p>
        </p:txBody>
      </p:sp>
      <p:sp>
        <p:nvSpPr>
          <p:cNvPr id="5" name="Footer Placeholder 4">
            <a:extLst>
              <a:ext uri="{FF2B5EF4-FFF2-40B4-BE49-F238E27FC236}">
                <a16:creationId xmlns:a16="http://schemas.microsoft.com/office/drawing/2014/main" id="{9E3C12F3-8D46-18CD-E40F-2FEBC82E96C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6DED0203-3229-98FE-77D7-AADADC31EBD2}"/>
              </a:ext>
            </a:extLst>
          </p:cNvPr>
          <p:cNvSpPr>
            <a:spLocks noGrp="1"/>
          </p:cNvSpPr>
          <p:nvPr>
            <p:ph type="sldNum" sz="quarter" idx="12"/>
          </p:nvPr>
        </p:nvSpPr>
        <p:spPr/>
        <p:txBody>
          <a:bodyPr/>
          <a:lstStyle/>
          <a:p>
            <a:fld id="{7B28076C-CE04-4A00-BFAA-A90EA8355859}" type="slidenum">
              <a:rPr lang="en-US" smtClean="0"/>
              <a:t>10</a:t>
            </a:fld>
            <a:endParaRPr lang="en-US"/>
          </a:p>
        </p:txBody>
      </p:sp>
      <p:sp>
        <p:nvSpPr>
          <p:cNvPr id="9" name="Rectangle 1">
            <a:extLst>
              <a:ext uri="{FF2B5EF4-FFF2-40B4-BE49-F238E27FC236}">
                <a16:creationId xmlns:a16="http://schemas.microsoft.com/office/drawing/2014/main" id="{E53F56E9-7B1C-49BD-E471-3BB7AB03AD7B}"/>
              </a:ext>
            </a:extLst>
          </p:cNvPr>
          <p:cNvSpPr>
            <a:spLocks noGrp="1" noChangeArrowheads="1"/>
          </p:cNvSpPr>
          <p:nvPr>
            <p:ph idx="1"/>
          </p:nvPr>
        </p:nvSpPr>
        <p:spPr bwMode="auto">
          <a:xfrm>
            <a:off x="381000" y="1295400"/>
            <a:ext cx="8382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FontTx/>
              <a:buChar char="•"/>
            </a:pPr>
            <a:r>
              <a:rPr lang="en-US" sz="2400" b="1" dirty="0"/>
              <a:t>Autonomous Optimization</a:t>
            </a:r>
            <a:r>
              <a:rPr lang="en-US" sz="2400" dirty="0"/>
              <a:t>: SIMS empowers industrial operations to transition from reactive to proactive maintenance, enhancing efficiency and reducing downtime.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lvl="0" indent="0" algn="just" eaLnBrk="0" fontAlgn="base" hangingPunct="0">
              <a:spcBef>
                <a:spcPct val="0"/>
              </a:spcBef>
              <a:spcAft>
                <a:spcPct val="0"/>
              </a:spcAft>
              <a:buFontTx/>
              <a:buChar char="•"/>
            </a:pPr>
            <a:r>
              <a:rPr lang="en-US" sz="2400" b="1" dirty="0"/>
              <a:t>Enhanced Decision-Making</a:t>
            </a:r>
            <a:r>
              <a:rPr lang="en-US" sz="2400" dirty="0"/>
              <a:t>: By integrating multimodal data, SIMS provides comprehensive insights, facilitating informed and timely decisions. </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lvl="0" indent="0" algn="just" eaLnBrk="0" fontAlgn="base" hangingPunct="0">
              <a:spcBef>
                <a:spcPct val="0"/>
              </a:spcBef>
              <a:spcAft>
                <a:spcPct val="0"/>
              </a:spcAft>
              <a:buFontTx/>
              <a:buChar char="•"/>
            </a:pPr>
            <a:r>
              <a:rPr lang="en-US" sz="2400" b="1" dirty="0"/>
              <a:t>Scalability and Adaptability</a:t>
            </a:r>
            <a:r>
              <a:rPr lang="en-US" sz="2400" dirty="0"/>
              <a:t>: Designed to seamlessly integrate with existing infrastructures, SIMS offers scalable solutions adaptable to various industrial environments.</a:t>
            </a:r>
          </a:p>
          <a:p>
            <a:pPr marL="0" lvl="0" indent="0" algn="just" eaLnBrk="0" fontAlgn="base" hangingPunct="0">
              <a:spcBef>
                <a:spcPct val="0"/>
              </a:spcBef>
              <a:spcAft>
                <a:spcPct val="0"/>
              </a:spcAft>
              <a:buFontTx/>
              <a:buChar char="•"/>
            </a:pPr>
            <a:r>
              <a:rPr lang="en-US" sz="2400" b="1" dirty="0"/>
              <a:t>Strategic Advantage</a:t>
            </a:r>
            <a:r>
              <a:rPr lang="en-US" sz="2400" dirty="0"/>
              <a:t>: Implementing SIMS positions organizations at the forefront of Industry 4.0, driving innovation and maintaining competitiveness.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515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REFERENCES</a:t>
            </a:r>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11</a:t>
            </a:fld>
            <a:endParaRPr lang="en-US"/>
          </a:p>
        </p:txBody>
      </p:sp>
      <p:sp>
        <p:nvSpPr>
          <p:cNvPr id="10" name="Rectangle 3">
            <a:extLst>
              <a:ext uri="{FF2B5EF4-FFF2-40B4-BE49-F238E27FC236}">
                <a16:creationId xmlns:a16="http://schemas.microsoft.com/office/drawing/2014/main" id="{CE4F55B0-7C88-5943-4A62-096DA4847876}"/>
              </a:ext>
            </a:extLst>
          </p:cNvPr>
          <p:cNvSpPr>
            <a:spLocks noGrp="1" noChangeArrowheads="1"/>
          </p:cNvSpPr>
          <p:nvPr>
            <p:ph idx="1"/>
          </p:nvPr>
        </p:nvSpPr>
        <p:spPr bwMode="auto">
          <a:xfrm>
            <a:off x="419100" y="1408471"/>
            <a:ext cx="83439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FontTx/>
              <a:buChar char="•"/>
            </a:pPr>
            <a:r>
              <a:rPr lang="en-US" sz="2400" dirty="0">
                <a:latin typeface="Arial" panose="020B0604020202020204" pitchFamily="34" charset="0"/>
                <a:cs typeface="Arial" panose="020B0604020202020204" pitchFamily="34" charset="0"/>
              </a:rPr>
              <a:t>N. S. Gill, "How to Build Agentic AI for Industrial Systems,“</a:t>
            </a:r>
          </a:p>
          <a:p>
            <a:pPr marL="0" lvl="0" indent="0"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EE Journal, "Agentic AI Prevents Costly Machine Downtime in Factories and Semiconductor Fabs,"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Sensfix</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 Multi-Modal AI Agent for Facilities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Dataiku, "AI Agents: Setting the Bar for Manufacturing Maintenance”</a:t>
            </a:r>
          </a:p>
          <a:p>
            <a:pPr marL="0" lvl="0" indent="0" eaLnBrk="0" fontAlgn="base" hangingPunct="0">
              <a:spcBef>
                <a:spcPct val="0"/>
              </a:spcBef>
              <a:spcAft>
                <a:spcPct val="0"/>
              </a:spcAft>
              <a:buFontTx/>
              <a:buChar char="•"/>
            </a:pPr>
            <a:r>
              <a:rPr lang="en-US" sz="2400" dirty="0"/>
              <a:t>RT Insights, "</a:t>
            </a:r>
            <a:r>
              <a:rPr lang="en-US" sz="2400" dirty="0">
                <a:latin typeface="Arial" panose="020B0604020202020204" pitchFamily="34" charset="0"/>
                <a:cs typeface="Arial" panose="020B0604020202020204" pitchFamily="34" charset="0"/>
              </a:rPr>
              <a:t>How Agentic AI Is Powering the Next Industrial Uptime Revolution,"</a:t>
            </a: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30 October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12</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849</Words>
  <Application>Microsoft Office PowerPoint</Application>
  <PresentationFormat>On-screen Show (4:3)</PresentationFormat>
  <Paragraphs>107</Paragraphs>
  <Slides>12</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Custom Design</vt:lpstr>
      <vt:lpstr>  </vt:lpstr>
      <vt:lpstr>AGENDA</vt:lpstr>
      <vt:lpstr>COURSE CERTIFICATE</vt:lpstr>
      <vt:lpstr>INTRODUCTION</vt:lpstr>
      <vt:lpstr>ABSTRACT</vt:lpstr>
      <vt:lpstr>OBJECTIVE</vt:lpstr>
      <vt:lpstr>SYSTEM ARCHITECTURE/IDEATION MAP</vt:lpstr>
      <vt:lpstr>MODULE IMPLEMENTATION</vt:lpstr>
      <vt:lpstr>RESULT AND DISCUSSION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karthik sriram</cp:lastModifiedBy>
  <cp:revision>129</cp:revision>
  <dcterms:created xsi:type="dcterms:W3CDTF">2019-11-06T07:48:00Z</dcterms:created>
  <dcterms:modified xsi:type="dcterms:W3CDTF">2025-10-30T14:39:02Z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26C965DCC8F94B56AF33BB737A8A4E09_13</vt:lpwstr>
  </property>
  <property fmtid="{D5CDD505-2E9C-101B-9397-08002B2CF9AE}" pid="3" name="KSOProductBuildVer">
    <vt:lpwstr>1033-12.2.0.22549</vt:lpwstr>
  </property>
</Properties>
</file>